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331720"/>
            <a:ext cx="274320" cy="2743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651760"/>
            <a:ext cx="10058400" cy="1463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4600" b="1">
                <a:solidFill>
                  <a:srgbClr val="FFFFFF"/>
                </a:solidFill>
                <a:latin typeface="Georgia"/>
              </a:rPr>
              <a:t>DilAjanları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023360"/>
            <a:ext cx="10058400" cy="914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0">
                <a:solidFill>
                  <a:srgbClr val="CADCFC"/>
                </a:solidFill>
                <a:latin typeface="Calibri"/>
              </a:rPr>
              <a:t>Yerel Video Analiz ve Karar Destek Ajanı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52160"/>
            <a:ext cx="1005840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0">
                <a:solidFill>
                  <a:srgbClr val="CADCFC"/>
                </a:solidFill>
                <a:latin typeface="Calibri"/>
              </a:rPr>
              <a:t>TEKNOFEST TYDA · 3. Senaryo   |   Takım: &lt;takım adı&gt;  ·  Üyeler: &lt;…&gt;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66928"/>
            <a:ext cx="201168" cy="20116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515600" cy="914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3400" b="1">
                <a:solidFill>
                  <a:srgbClr val="1E2761"/>
                </a:solidFill>
                <a:latin typeface="Georgia"/>
              </a:rPr>
              <a:t>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332720" cy="4389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1800" b="0">
                <a:solidFill>
                  <a:srgbClr val="222833"/>
                </a:solidFill>
                <a:latin typeface="Calibri"/>
              </a:rPr>
              <a:t>•  Savunma sanayi ve saha kameraları sürekli, yüksek hacimli video üretir.</a:t>
            </a:r>
          </a:p>
          <a:p>
            <a:pPr algn="l">
              <a:spcAft>
                <a:spcPts val="1400"/>
              </a:spcAft>
            </a:pPr>
            <a:r>
              <a:rPr sz="1800" b="0">
                <a:solidFill>
                  <a:srgbClr val="222833"/>
                </a:solidFill>
                <a:latin typeface="Calibri"/>
              </a:rPr>
              <a:t>•  Manuel analiz hem maliyetli hem de insan hatasına açıktır.</a:t>
            </a:r>
          </a:p>
          <a:p>
            <a:pPr algn="l">
              <a:spcAft>
                <a:spcPts val="1400"/>
              </a:spcAft>
            </a:pPr>
            <a:r>
              <a:rPr sz="1800" b="0">
                <a:solidFill>
                  <a:srgbClr val="222833"/>
                </a:solidFill>
                <a:latin typeface="Calibri"/>
              </a:rPr>
              <a:t>•  İhtiyaç: olayları hızlı, Türkçe, yerel ve güvenilir biçimde anlamlandıran karar destek.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66928"/>
            <a:ext cx="201168" cy="20116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515600" cy="914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3400" b="1">
                <a:solidFill>
                  <a:srgbClr val="1E2761"/>
                </a:solidFill>
                <a:latin typeface="Georgia"/>
              </a:rPr>
              <a:t>Çözümümüz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332720" cy="4389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1800" b="0">
                <a:solidFill>
                  <a:srgbClr val="222833"/>
                </a:solidFill>
                <a:latin typeface="Calibri"/>
              </a:rPr>
              <a:t>•  Tamamen yerel / offline çalışan, multimodal (video + metin) yapay zekâ ajanı.</a:t>
            </a:r>
          </a:p>
          <a:p>
            <a:pPr algn="l">
              <a:spcAft>
                <a:spcPts val="1400"/>
              </a:spcAft>
            </a:pPr>
            <a:r>
              <a:rPr sz="1800" b="0">
                <a:solidFill>
                  <a:srgbClr val="222833"/>
                </a:solidFill>
                <a:latin typeface="Calibri"/>
              </a:rPr>
              <a:t>•  Zaman damgalı olay tespiti · Türkçe özet · risk değerlendirmesi · aksiyon önerileri.</a:t>
            </a:r>
          </a:p>
          <a:p>
            <a:pPr algn="l">
              <a:spcAft>
                <a:spcPts val="1400"/>
              </a:spcAft>
            </a:pPr>
            <a:r>
              <a:rPr sz="1800" b="0">
                <a:solidFill>
                  <a:srgbClr val="222833"/>
                </a:solidFill>
                <a:latin typeface="Calibri"/>
              </a:rPr>
              <a:t>•  Operasyonel fonksiyonları dinamik tetikleme; çıktı yapılandırılmış JSON.</a:t>
            </a:r>
          </a:p>
          <a:p>
            <a:pPr algn="l">
              <a:spcAft>
                <a:spcPts val="1400"/>
              </a:spcAft>
            </a:pPr>
            <a:r>
              <a:rPr sz="1800" b="0">
                <a:solidFill>
                  <a:srgbClr val="222833"/>
                </a:solidFill>
                <a:latin typeface="Calibri"/>
              </a:rPr>
              <a:t>•  Dış API / bulut / ücretli yazılım bağımlılığı YOK.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66928"/>
            <a:ext cx="201168" cy="20116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515600" cy="914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3400" b="1">
                <a:solidFill>
                  <a:srgbClr val="1E2761"/>
                </a:solidFill>
                <a:latin typeface="Georgia"/>
              </a:rPr>
              <a:t>Mimari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332720" cy="4389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1800" b="0">
                <a:solidFill>
                  <a:srgbClr val="222833"/>
                </a:solidFill>
                <a:latin typeface="Calibri"/>
              </a:rPr>
              <a:t>•  Görsel-Dil Modeli: Qwen3-VL-8B (FP8), vLLM ile yerel servis (OpenAI uyumlu API).</a:t>
            </a:r>
          </a:p>
          <a:p>
            <a:pPr algn="l">
              <a:spcAft>
                <a:spcPts val="1400"/>
              </a:spcAft>
            </a:pPr>
            <a:r>
              <a:rPr sz="1800" b="0">
                <a:solidFill>
                  <a:srgbClr val="222833"/>
                </a:solidFill>
                <a:latin typeface="Calibri"/>
              </a:rPr>
              <a:t>•  Ajan: LangGraph — 5 düğümlü, hata toleranslı durum makinesi.</a:t>
            </a:r>
          </a:p>
          <a:p>
            <a:pPr algn="l">
              <a:spcAft>
                <a:spcPts val="1400"/>
              </a:spcAft>
            </a:pPr>
            <a:r>
              <a:rPr sz="1800" b="0">
                <a:solidFill>
                  <a:srgbClr val="222833"/>
                </a:solidFill>
                <a:latin typeface="Calibri"/>
              </a:rPr>
              <a:t>•  Öz-doğrulama + mekânsal grounding + ayarlanabilir duyarlılık modları.</a:t>
            </a:r>
          </a:p>
          <a:p>
            <a:pPr algn="l">
              <a:spcAft>
                <a:spcPts val="1400"/>
              </a:spcAft>
            </a:pPr>
            <a:r>
              <a:rPr sz="1800" b="0">
                <a:solidFill>
                  <a:srgbClr val="222833"/>
                </a:solidFill>
                <a:latin typeface="Calibri"/>
              </a:rPr>
              <a:t>•  Arayüz: Gradio (analiz + operatör asistanı sohbeti). Tamamen yerel.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126480"/>
            <a:ext cx="1033272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 b="0">
                <a:solidFill>
                  <a:srgbClr val="5A6372"/>
                </a:solidFill>
                <a:latin typeface="Calibri"/>
              </a:rPr>
              <a:t>Diyagram: docs/architecture.md  ·  Model seçimi A/B ile kanıtlandı (Qwen2.5-VL-7B → Qwen3-VL-8B)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66928"/>
            <a:ext cx="201168" cy="20116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515600" cy="914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3400" b="1">
                <a:solidFill>
                  <a:srgbClr val="1E2761"/>
                </a:solidFill>
                <a:latin typeface="Georgia"/>
              </a:rPr>
              <a:t>Ajan Akışı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332720" cy="4389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1800" b="0">
                <a:solidFill>
                  <a:srgbClr val="222833"/>
                </a:solidFill>
                <a:latin typeface="Calibri"/>
              </a:rPr>
              <a:t>•  ingest → kare örnekleme + zaman damgalı segmentleme.</a:t>
            </a:r>
          </a:p>
          <a:p>
            <a:pPr algn="l">
              <a:spcAft>
                <a:spcPts val="1400"/>
              </a:spcAft>
            </a:pPr>
            <a:r>
              <a:rPr sz="1800" b="0">
                <a:solidFill>
                  <a:srgbClr val="222833"/>
                </a:solidFill>
                <a:latin typeface="Calibri"/>
              </a:rPr>
              <a:t>•  perceive → iki aşamalı algı + öz-doğrulama (deduce-then-verify) + konum (grounding), paralel.</a:t>
            </a:r>
          </a:p>
          <a:p>
            <a:pPr algn="l">
              <a:spcAft>
                <a:spcPts val="1400"/>
              </a:spcAft>
            </a:pPr>
            <a:r>
              <a:rPr sz="1800" b="0">
                <a:solidFill>
                  <a:srgbClr val="222833"/>
                </a:solidFill>
                <a:latin typeface="Calibri"/>
              </a:rPr>
              <a:t>•  reason → Türkçe özet + risk + aksiyon önerileri.</a:t>
            </a:r>
          </a:p>
          <a:p>
            <a:pPr algn="l">
              <a:spcAft>
                <a:spcPts val="1400"/>
              </a:spcAft>
            </a:pPr>
            <a:r>
              <a:rPr sz="1800" b="0">
                <a:solidFill>
                  <a:srgbClr val="222833"/>
                </a:solidFill>
                <a:latin typeface="Calibri"/>
              </a:rPr>
              <a:t>•  act → uygun mock operasyonel fonksiyonları dinamik seç ve çağır.</a:t>
            </a:r>
          </a:p>
          <a:p>
            <a:pPr algn="l">
              <a:spcAft>
                <a:spcPts val="1400"/>
              </a:spcAft>
            </a:pPr>
            <a:r>
              <a:rPr sz="1800" b="0">
                <a:solidFill>
                  <a:srgbClr val="222833"/>
                </a:solidFill>
                <a:latin typeface="Calibri"/>
              </a:rPr>
              <a:t>•  finalize → yapılandırılmış AnalysisResult (JSON).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66928"/>
            <a:ext cx="201168" cy="20116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515600" cy="914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3400" b="1">
                <a:solidFill>
                  <a:srgbClr val="1E2761"/>
                </a:solidFill>
                <a:latin typeface="Georgia"/>
              </a:rPr>
              <a:t>Agentic Bileşenler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332720" cy="4389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1800" b="0">
                <a:solidFill>
                  <a:srgbClr val="222833"/>
                </a:solidFill>
                <a:latin typeface="Calibri"/>
              </a:rPr>
              <a:t>•  Tools: 6 mock operasyonel fonksiyon (sağlık/güvenlik/acil durdurma/kayıt…).</a:t>
            </a:r>
          </a:p>
          <a:p>
            <a:pPr algn="l">
              <a:spcAft>
                <a:spcPts val="1400"/>
              </a:spcAft>
            </a:pPr>
            <a:r>
              <a:rPr sz="1800" b="0">
                <a:solidFill>
                  <a:srgbClr val="222833"/>
                </a:solidFill>
                <a:latin typeface="Calibri"/>
              </a:rPr>
              <a:t>•  Memory: segmentler arası olay birikimi + çok turlu diyalog hafızası.</a:t>
            </a:r>
          </a:p>
          <a:p>
            <a:pPr algn="l">
              <a:spcAft>
                <a:spcPts val="1400"/>
              </a:spcAft>
            </a:pPr>
            <a:r>
              <a:rPr sz="1800" b="0">
                <a:solidFill>
                  <a:srgbClr val="222833"/>
                </a:solidFill>
                <a:latin typeface="Calibri"/>
              </a:rPr>
              <a:t>•  Prompt engineering: senaryoya özel Türkçe promptlar.</a:t>
            </a:r>
          </a:p>
          <a:p>
            <a:pPr algn="l">
              <a:spcAft>
                <a:spcPts val="1400"/>
              </a:spcAft>
            </a:pPr>
            <a:r>
              <a:rPr sz="1800" b="0">
                <a:solidFill>
                  <a:srgbClr val="222833"/>
                </a:solidFill>
                <a:latin typeface="Calibri"/>
              </a:rPr>
              <a:t>•  Dinamik, model-tabanlı araç seçimi (statik kural değil).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66928"/>
            <a:ext cx="201168" cy="20116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515600" cy="914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3400" b="1">
                <a:solidFill>
                  <a:srgbClr val="1E2761"/>
                </a:solidFill>
                <a:latin typeface="Georgia"/>
              </a:rPr>
              <a:t>Yenilik 1 — İki Aşamalı Algı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332720" cy="4389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1800" b="0">
                <a:solidFill>
                  <a:srgbClr val="222833"/>
                </a:solidFill>
                <a:latin typeface="Calibri"/>
              </a:rPr>
              <a:t>•  Katı JSON olay-promptu, düşük çözünürlüklü gerçek CCTV'de modeli aşırı temkinli yapıyordu.</a:t>
            </a:r>
          </a:p>
          <a:p>
            <a:pPr algn="l">
              <a:spcAft>
                <a:spcPts val="1400"/>
              </a:spcAft>
            </a:pPr>
            <a:r>
              <a:rPr sz="1800" b="0">
                <a:solidFill>
                  <a:srgbClr val="222833"/>
                </a:solidFill>
                <a:latin typeface="Calibri"/>
              </a:rPr>
              <a:t>•  Çözüm: önce serbest Türkçe tarif → sonra tariften olay çıkarımı.</a:t>
            </a:r>
          </a:p>
          <a:p>
            <a:pPr algn="l">
              <a:spcAft>
                <a:spcPts val="1400"/>
              </a:spcAft>
            </a:pPr>
            <a:r>
              <a:rPr sz="1800" b="0">
                <a:solidFill>
                  <a:srgbClr val="222833"/>
                </a:solidFill>
                <a:latin typeface="Calibri"/>
              </a:rPr>
              <a:t>•  Gerçek UCF-Crime kliplerinde tespit oranını belirgin artırdı (yüksek recall).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66928"/>
            <a:ext cx="201168" cy="20116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515600" cy="914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3400" b="1">
                <a:solidFill>
                  <a:srgbClr val="1E2761"/>
                </a:solidFill>
                <a:latin typeface="Georgia"/>
              </a:rPr>
              <a:t>Yenilik 2 — Risk Kalibrasyonu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332720" cy="4389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1800" b="0">
                <a:solidFill>
                  <a:srgbClr val="222833"/>
                </a:solidFill>
                <a:latin typeface="Calibri"/>
              </a:rPr>
              <a:t>•  Model gerçek tehlikeyi tarif edip riski sistematik düşük puanlıyordu.</a:t>
            </a:r>
          </a:p>
          <a:p>
            <a:pPr algn="l">
              <a:spcAft>
                <a:spcPts val="1400"/>
              </a:spcAft>
            </a:pPr>
            <a:r>
              <a:rPr sz="1800" b="0">
                <a:solidFill>
                  <a:srgbClr val="222833"/>
                </a:solidFill>
                <a:latin typeface="Calibri"/>
              </a:rPr>
              <a:t>•  Severity kalibrasyonu (tehdit kelimeleri) + risk tabanı guardrail'i.</a:t>
            </a:r>
          </a:p>
          <a:p>
            <a:pPr algn="l">
              <a:spcAft>
                <a:spcPts val="1400"/>
              </a:spcAft>
            </a:pPr>
            <a:r>
              <a:rPr sz="1800" b="0">
                <a:solidFill>
                  <a:srgbClr val="222833"/>
                </a:solidFill>
                <a:latin typeface="Calibri"/>
              </a:rPr>
              <a:t>•  Sonuç: anomalilerde risk yükseldi, normal videolarda yanlış-pozitif %0 korundu.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66928"/>
            <a:ext cx="201168" cy="20116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515600" cy="914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3400" b="1">
                <a:solidFill>
                  <a:srgbClr val="1E2761"/>
                </a:solidFill>
                <a:latin typeface="Georgia"/>
              </a:rPr>
              <a:t>Yenilik 3 — Model Yükseltmesi &amp; Öz-Doğrulama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332720" cy="4389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1800" b="0">
                <a:solidFill>
                  <a:srgbClr val="222833"/>
                </a:solidFill>
                <a:latin typeface="Calibri"/>
              </a:rPr>
              <a:t>•  Qwen2.5-VL-7B → Qwen3-VL-8B (A/B ile): kategori adlandırma %83→%100, UCF suçları %0→%100.</a:t>
            </a:r>
          </a:p>
          <a:p>
            <a:pPr algn="l">
              <a:spcAft>
                <a:spcPts val="1400"/>
              </a:spcAft>
            </a:pPr>
            <a:r>
              <a:rPr sz="1800" b="0">
                <a:solidFill>
                  <a:srgbClr val="222833"/>
                </a:solidFill>
                <a:latin typeface="Calibri"/>
              </a:rPr>
              <a:t>•  Daha akıcı Türkçe (Qwen3 omurgası, 119 dil) — yarışmanın çekirdek deliverable'ı.</a:t>
            </a:r>
          </a:p>
          <a:p>
            <a:pPr algn="l">
              <a:spcAft>
                <a:spcPts val="1400"/>
              </a:spcAft>
            </a:pPr>
            <a:r>
              <a:rPr sz="1800" b="0">
                <a:solidFill>
                  <a:srgbClr val="222833"/>
                </a:solidFill>
                <a:latin typeface="Calibri"/>
              </a:rPr>
              <a:t>•  Öz-doğrulama (deduce-then-verify): ajan yüksek-riskli tespiti yeniden sorgulayıp teyit eder.</a:t>
            </a:r>
          </a:p>
          <a:p>
            <a:pPr algn="l">
              <a:spcAft>
                <a:spcPts val="1400"/>
              </a:spcAft>
            </a:pPr>
            <a:r>
              <a:rPr sz="1800" b="0">
                <a:solidFill>
                  <a:srgbClr val="222833"/>
                </a:solidFill>
                <a:latin typeface="Calibri"/>
              </a:rPr>
              <a:t>•  Mekânsal grounding: olayın karedeki konumu (bbox → 'merkez / üst-sol') — açıklanabilirlik.</a:t>
            </a:r>
          </a:p>
          <a:p>
            <a:pPr algn="l">
              <a:spcAft>
                <a:spcPts val="1400"/>
              </a:spcAft>
            </a:pPr>
            <a:r>
              <a:rPr sz="1800" b="0">
                <a:solidFill>
                  <a:srgbClr val="222833"/>
                </a:solidFill>
                <a:latin typeface="Calibri"/>
              </a:rPr>
              <a:t>•  Ayarlanabilir duyarlılık modları (Yüksek-Duyarlılık / Dengeli / Kararlılık).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66928"/>
            <a:ext cx="201168" cy="20116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515600" cy="914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3400" b="1">
                <a:solidFill>
                  <a:srgbClr val="1E2761"/>
                </a:solidFill>
                <a:latin typeface="Georgia"/>
              </a:rPr>
              <a:t>Otonomi &amp; Diyalog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332720" cy="4389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1800" b="0">
                <a:solidFill>
                  <a:srgbClr val="222833"/>
                </a:solidFill>
                <a:latin typeface="Calibri"/>
              </a:rPr>
              <a:t>•  Operatör asistanı: yalnızca analize dayanır (grounding), uydurmaz.</a:t>
            </a:r>
          </a:p>
          <a:p>
            <a:pPr algn="l">
              <a:spcAft>
                <a:spcPts val="1400"/>
              </a:spcAft>
            </a:pPr>
            <a:r>
              <a:rPr sz="1800" b="0">
                <a:solidFill>
                  <a:srgbClr val="222833"/>
                </a:solidFill>
                <a:latin typeface="Calibri"/>
              </a:rPr>
              <a:t>•  İnisiyatif alır; 'olay nerede?' → konum yanıtı; belirsizlikte açıklayıcı soru sorar.</a:t>
            </a:r>
          </a:p>
          <a:p>
            <a:pPr algn="l">
              <a:spcAft>
                <a:spcPts val="1400"/>
              </a:spcAft>
            </a:pPr>
            <a:r>
              <a:rPr sz="1800" b="0">
                <a:solidFill>
                  <a:srgbClr val="222833"/>
                </a:solidFill>
                <a:latin typeface="Calibri"/>
              </a:rPr>
              <a:t>•  Bağlam-değişimi ve prompt-injection denemelerine dayanıklı (göreve bağlı kalır).</a:t>
            </a:r>
          </a:p>
          <a:p>
            <a:pPr algn="l">
              <a:spcAft>
                <a:spcPts val="1400"/>
              </a:spcAft>
            </a:pPr>
            <a:r>
              <a:rPr sz="1800" b="0">
                <a:solidFill>
                  <a:srgbClr val="222833"/>
                </a:solidFill>
                <a:latin typeface="Calibri"/>
              </a:rPr>
              <a:t>•  Diyalog robustluk testi: 5.00/5 (canlı demoda gösterilecek).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515600" cy="914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3400" b="1">
                <a:solidFill>
                  <a:srgbClr val="FFFFFF"/>
                </a:solidFill>
                <a:latin typeface="Georgia"/>
              </a:rPr>
              <a:t>Ölçüm &amp; KPI (veriye dayalı)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2316403" cy="10972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5400" b="1">
                <a:solidFill>
                  <a:srgbClr val="CADCFC"/>
                </a:solidFill>
                <a:latin typeface="Arial Black"/>
              </a:rPr>
              <a:t>%100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2316403" cy="1280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Senaryo recall + kategori (yangın/düşme)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96563" y="2377440"/>
            <a:ext cx="2316403" cy="10972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5400" b="1">
                <a:solidFill>
                  <a:srgbClr val="CADCFC"/>
                </a:solidFill>
                <a:latin typeface="Arial Black"/>
              </a:rPr>
              <a:t>%0→%100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96563" y="3657600"/>
            <a:ext cx="2316403" cy="1280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Suç adlandırma (Qwen3-VL)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78727" y="2377440"/>
            <a:ext cx="2316403" cy="10972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5400" b="1">
                <a:solidFill>
                  <a:srgbClr val="CADCFC"/>
                </a:solidFill>
                <a:latin typeface="Arial Black"/>
              </a:rPr>
              <a:t>5/5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78727" y="3657600"/>
            <a:ext cx="2316403" cy="1280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Diyalog robustluğu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0891" y="2377440"/>
            <a:ext cx="2316403" cy="10972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5400" b="1">
                <a:solidFill>
                  <a:srgbClr val="CADCFC"/>
                </a:solidFill>
                <a:latin typeface="Arial Black"/>
              </a:rPr>
              <a:t>3.2×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0891" y="3657600"/>
            <a:ext cx="2316403" cy="1280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Paralelleştirme hızlanması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66928"/>
            <a:ext cx="201168" cy="20116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515600" cy="914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3400" b="1">
                <a:solidFill>
                  <a:srgbClr val="1E2761"/>
                </a:solidFill>
                <a:latin typeface="Georgia"/>
              </a:rPr>
              <a:t>Performans &amp; Ölçeklenebilirlik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332720" cy="4389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1800" b="0">
                <a:solidFill>
                  <a:srgbClr val="222833"/>
                </a:solidFill>
                <a:latin typeface="Calibri"/>
              </a:rPr>
              <a:t>•  Segment analizinin paralelleştirilmesi → 3.2× hızlanma (116s → 36s).</a:t>
            </a:r>
          </a:p>
          <a:p>
            <a:pPr algn="l">
              <a:spcAft>
                <a:spcPts val="1400"/>
              </a:spcAft>
            </a:pPr>
            <a:r>
              <a:rPr sz="1800" b="0">
                <a:solidFill>
                  <a:srgbClr val="222833"/>
                </a:solidFill>
                <a:latin typeface="Calibri"/>
              </a:rPr>
              <a:t>•  vLLM + CUDA graphs → ~37 token/s; düşük gecikme.</a:t>
            </a:r>
          </a:p>
          <a:p>
            <a:pPr algn="l">
              <a:spcAft>
                <a:spcPts val="1400"/>
              </a:spcAft>
            </a:pPr>
            <a:r>
              <a:rPr sz="1800" b="0">
                <a:solidFill>
                  <a:srgbClr val="222833"/>
                </a:solidFill>
                <a:latin typeface="Calibri"/>
              </a:rPr>
              <a:t>•  Bozuk / olaysız videoların zarif yönetimi (hata toleransı).</a:t>
            </a:r>
          </a:p>
          <a:p>
            <a:pPr algn="l">
              <a:spcAft>
                <a:spcPts val="1400"/>
              </a:spcAft>
            </a:pPr>
            <a:r>
              <a:rPr sz="1800" b="0">
                <a:solidFill>
                  <a:srgbClr val="222833"/>
                </a:solidFill>
                <a:latin typeface="Calibri"/>
              </a:rPr>
              <a:t>•  Tamamen yerel; ölçeklenebilir mimari.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66928"/>
            <a:ext cx="201168" cy="20116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515600" cy="914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3400" b="1">
                <a:solidFill>
                  <a:srgbClr val="1E2761"/>
                </a:solidFill>
                <a:latin typeface="Georgia"/>
              </a:rPr>
              <a:t>Açık Kaynak &amp; Tekrar Üretilebilirlik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332720" cy="4389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1800" b="0">
                <a:solidFill>
                  <a:srgbClr val="222833"/>
                </a:solidFill>
                <a:latin typeface="Calibri"/>
              </a:rPr>
              <a:t>•  Apache License 2.0 · GitHub (BilisimVadisi2026 etiketi).</a:t>
            </a:r>
          </a:p>
          <a:p>
            <a:pPr algn="l">
              <a:spcAft>
                <a:spcPts val="1400"/>
              </a:spcAft>
            </a:pPr>
            <a:r>
              <a:rPr sz="1800" b="0">
                <a:solidFill>
                  <a:srgbClr val="222833"/>
                </a:solidFill>
                <a:latin typeface="Calibri"/>
              </a:rPr>
              <a:t>•  requirements-lock.txt ile tam sürüm kilidi; adım adım kurulum.</a:t>
            </a:r>
          </a:p>
          <a:p>
            <a:pPr algn="l">
              <a:spcAft>
                <a:spcPts val="1400"/>
              </a:spcAft>
            </a:pPr>
            <a:r>
              <a:rPr sz="1800" b="0">
                <a:solidFill>
                  <a:srgbClr val="222833"/>
                </a:solidFill>
                <a:latin typeface="Calibri"/>
              </a:rPr>
              <a:t>•  Herkese açık veri seti linki (UCF-Crime); dokümantasyon + mimari.</a:t>
            </a:r>
          </a:p>
          <a:p>
            <a:pPr algn="l">
              <a:spcAft>
                <a:spcPts val="1400"/>
              </a:spcAft>
            </a:pPr>
            <a:r>
              <a:rPr sz="1800" b="0">
                <a:solidFill>
                  <a:srgbClr val="222833"/>
                </a:solidFill>
                <a:latin typeface="Calibri"/>
              </a:rPr>
              <a:t>•  Benchmark altyapısı: her iyileştirme veriyle kanıtlanabilir.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66928"/>
            <a:ext cx="201168" cy="20116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515600" cy="914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3400" b="1">
                <a:solidFill>
                  <a:srgbClr val="1E2761"/>
                </a:solidFill>
                <a:latin typeface="Georgia"/>
              </a:rPr>
              <a:t>Sonuç &amp; Gelecek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332720" cy="4389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1800" b="0">
                <a:solidFill>
                  <a:srgbClr val="222833"/>
                </a:solidFill>
                <a:latin typeface="Calibri"/>
              </a:rPr>
              <a:t>•  Çalışan, ölçülmüş, uçtan uca yerel karar destek ajanı (Qwen3-VL-8B).</a:t>
            </a:r>
          </a:p>
          <a:p>
            <a:pPr algn="l">
              <a:spcAft>
                <a:spcPts val="1400"/>
              </a:spcAft>
            </a:pPr>
            <a:r>
              <a:rPr sz="1800" b="0">
                <a:solidFill>
                  <a:srgbClr val="222833"/>
                </a:solidFill>
                <a:latin typeface="Calibri"/>
              </a:rPr>
              <a:t>•  Güçlü yan: SOTA model + öz-doğrulama + grounding + otonomi/diyalog (5/5) + kanıtlanmış metrikler.</a:t>
            </a:r>
          </a:p>
          <a:p>
            <a:pPr algn="l">
              <a:spcAft>
                <a:spcPts val="1400"/>
              </a:spcAft>
            </a:pPr>
            <a:r>
              <a:rPr sz="1800" b="0">
                <a:solidFill>
                  <a:srgbClr val="222833"/>
                </a:solidFill>
                <a:latin typeface="Calibri"/>
              </a:rPr>
              <a:t>•  Veriye dayalı: 8+ model/teknik kombinasyonu ölçüldü, sadece işe yarayan tutuldu.</a:t>
            </a:r>
          </a:p>
          <a:p>
            <a:pPr algn="l">
              <a:spcAft>
                <a:spcPts val="1400"/>
              </a:spcAft>
            </a:pPr>
            <a:r>
              <a:rPr sz="1800" b="0">
                <a:solidFill>
                  <a:srgbClr val="222833"/>
                </a:solidFill>
                <a:latin typeface="Calibri"/>
              </a:rPr>
              <a:t>•  Gelecek: ses analizi, çoklu kamera, temporal lokalizasyon (window-F1), gerçek-video düşme seti.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331720"/>
            <a:ext cx="274320" cy="2743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651760"/>
            <a:ext cx="10058400" cy="1463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4600" b="1">
                <a:solidFill>
                  <a:srgbClr val="FFFFFF"/>
                </a:solidFill>
                <a:latin typeface="Georgia"/>
              </a:rPr>
              <a:t>Teşekkürler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023360"/>
            <a:ext cx="10058400" cy="914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0">
                <a:solidFill>
                  <a:srgbClr val="CADCFC"/>
                </a:solidFill>
                <a:latin typeface="Calibri"/>
              </a:rPr>
              <a:t>Sorularınızı bekliyoruz — canlı demo hazır.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52160"/>
            <a:ext cx="1005840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0">
                <a:solidFill>
                  <a:srgbClr val="CADCFC"/>
                </a:solidFill>
                <a:latin typeface="Calibri"/>
              </a:rPr>
              <a:t>DilAjanları · TEKNOFEST TYDA 3. Senaryo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