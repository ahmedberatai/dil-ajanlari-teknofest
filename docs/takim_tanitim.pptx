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005840"/>
            <a:ext cx="3108960" cy="3108960"/>
          </a:xfrm>
          <a:prstGeom prst="ellipse">
            <a:avLst/>
          </a:prstGeom>
          <a:solidFill>
            <a:srgbClr val="12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572000"/>
            <a:ext cx="2377440" cy="2377440"/>
          </a:xfrm>
          <a:prstGeom prst="ellipse">
            <a:avLst/>
          </a:prstGeom>
          <a:solidFill>
            <a:srgbClr val="12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731520"/>
            <a:ext cx="822960" cy="82296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Cambria"/>
              </a:rPr>
              <a:t>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6600" b="1" i="0">
                <a:solidFill>
                  <a:srgbClr val="FFFFFF"/>
                </a:solidFill>
                <a:latin typeface="Cambria"/>
              </a:rPr>
              <a:t>VigilantAI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0896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6B6D4"/>
                </a:solidFill>
                <a:latin typeface="Calibri"/>
              </a:rPr>
              <a:t>Takım Tanıtım Dosyası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CADCFC"/>
                </a:solidFill>
                <a:latin typeface="Calibri"/>
              </a:rPr>
              <a:t>TEKNOFEST — Türkçe Yapay Zeka Dil Ajanları Yarışması · 3. Senaryo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ADCFC"/>
                </a:solidFill>
                <a:latin typeface="Calibri"/>
              </a:rPr>
              <a:t>Proje: DilAjanları — Yerel Video Analiz &amp; Karar Destek Ajanı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80644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AB2D8"/>
                </a:solidFill>
                <a:latin typeface="Calibri"/>
              </a:rPr>
              <a:t>Ahmed Berat Özer  ·  Süleyman Eren Kayacılar  ·  Fatma Sena Gül  ·  Fatma Ceren 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48640"/>
            <a:ext cx="9966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2315E"/>
                </a:solidFill>
                <a:latin typeface="Cambria"/>
              </a:rPr>
              <a:t>Takım Adı ve Kısa Tanıtım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4008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12315E"/>
                </a:solidFill>
                <a:latin typeface="Calibri"/>
              </a:rPr>
              <a:t>VigilantAI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Ankara Üniversitesi Yapay Zeka ve Veri Mühendisliği bölümünden dört öğrencinin kurduğu, savunma ve güvenlik odaklı yapay zeka çözümleri geliştiren bir ekiptir.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Ortak alan geçmişimizi (multimodal yapay zeka, doğal dil işleme, veri mühendisliği) gerçek dünya problemlerine uygulamak için bir araya geldik. Adımız “vigilant” (teyakkuz/uyanık) kelimesinden geliyor: kameraları insan yerine, yorulmadan ve tutarlı biçimde izleyen bir yapay zeka.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828800"/>
            <a:ext cx="4114800" cy="3291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2148840"/>
            <a:ext cx="1234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7490"/>
                </a:solidFill>
                <a:latin typeface="Cambria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971800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üye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79408" y="2148840"/>
            <a:ext cx="1234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7490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79408" y="2971800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ortak bölüm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32136" y="2148840"/>
            <a:ext cx="1234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7490"/>
                </a:solidFill>
                <a:latin typeface="Cambria"/>
              </a:rPr>
              <a:t>%100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32136" y="2971800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alan uyumu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3657600"/>
            <a:ext cx="3520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2315E"/>
                </a:solidFill>
                <a:latin typeface="Calibri"/>
              </a:rPr>
              <a:t>Odak alanı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Yerel/offline çalışan, Türkçe konuşan, açıklanabilir video-analiz ve karar-destek ajanları.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48640"/>
            <a:ext cx="9966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2315E"/>
                </a:solidFill>
                <a:latin typeface="Cambria"/>
              </a:rPr>
              <a:t>Takımın Kuruluş Amacı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920239"/>
            <a:ext cx="457200" cy="457200"/>
          </a:xfrm>
          <a:prstGeom prst="ellipse">
            <a:avLst/>
          </a:prstGeom>
          <a:solidFill>
            <a:srgbClr val="12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874519"/>
            <a:ext cx="10149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2315E"/>
                </a:solidFill>
                <a:latin typeface="Cambria"/>
              </a:rPr>
              <a:t>Neden bu yarışmaya katıldık?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31720"/>
            <a:ext cx="10149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Bölümümüzde öğrendiğimiz multimodal yapay zeka ve Türkçe doğal dil işleme bilgisini, savunma sanayine değer katan somut ve yerli bir çözüme dönüştürmek istedik.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01568"/>
            <a:ext cx="457200" cy="457200"/>
          </a:xfrm>
          <a:prstGeom prst="ellipse">
            <a:avLst/>
          </a:prstGeom>
          <a:solidFill>
            <a:srgbClr val="12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355848"/>
            <a:ext cx="10149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2315E"/>
                </a:solidFill>
                <a:latin typeface="Cambria"/>
              </a:rPr>
              <a:t>Bu senaryoda ne çözüyoruz?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813048"/>
            <a:ext cx="10149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Güvenlik ve saha kameraları sürekli, yüksek hacimli video üretir; bunun manuel analizi hem pahalı hem insan hatasına açıktır. Biz bu yükü; olayları zaman damgasıyla tespit eden, Türkçe özet + risk değerlendirmesi + aksiyon önerisi üreten bir karar-destek ajanına devrediyoruz.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882896"/>
            <a:ext cx="457200" cy="457200"/>
          </a:xfrm>
          <a:prstGeom prst="ellipse">
            <a:avLst/>
          </a:prstGeom>
          <a:solidFill>
            <a:srgbClr val="12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837176"/>
            <a:ext cx="10149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2315E"/>
                </a:solidFill>
                <a:latin typeface="Cambria"/>
              </a:rPr>
              <a:t>Neyi önemsiyoruz?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5294376"/>
            <a:ext cx="10149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Tamamen yerel/offline çalışma (veri gizliliği + bağımsızlık), açıklanabilirlik ve dürüst ölçüm — abartısız, kanıtlanabilir başarım.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48640"/>
            <a:ext cx="9966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2315E"/>
                </a:solidFill>
                <a:latin typeface="Cambria"/>
              </a:rPr>
              <a:t>Üyelerin Eğitim Bilgileri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266944" cy="2057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194560"/>
            <a:ext cx="914400" cy="914400"/>
          </a:xfrm>
          <a:prstGeom prst="ellipse">
            <a:avLst/>
          </a:prstGeom>
          <a:solidFill>
            <a:srgbClr val="12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mbria"/>
              </a:rPr>
              <a:t>AÖ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219456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F172A"/>
                </a:solidFill>
                <a:latin typeface="Cambria"/>
              </a:rPr>
              <a:t>Ahmed Berat Özer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69747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7490"/>
                </a:solidFill>
                <a:latin typeface="Calibri"/>
              </a:rPr>
              <a:t>Takım Kaptanı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246120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Ankara Üniversitesi, Yapay Zeka ve Veri Mühendisliği,
Lisans Öğrencisi (2. sınıf)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874519"/>
            <a:ext cx="5266944" cy="2057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74536" y="2194560"/>
            <a:ext cx="914400" cy="914400"/>
          </a:xfrm>
          <a:prstGeom prst="ellipse">
            <a:avLst/>
          </a:prstGeom>
          <a:solidFill>
            <a:srgbClr val="12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mbria"/>
              </a:rPr>
              <a:t>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219456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F172A"/>
                </a:solidFill>
                <a:latin typeface="Cambria"/>
              </a:rPr>
              <a:t>Süleyman Eren Kayacılar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69747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7490"/>
                </a:solidFill>
                <a:latin typeface="Calibri"/>
              </a:rPr>
              <a:t>Üye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4536" y="3246120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Ankara Üniversitesi, Yapay Zeka ve Veri Mühendisliği,
Lisans Öğrencisi (3. sınıf)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06240"/>
            <a:ext cx="5266944" cy="2057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2688" y="4526279"/>
            <a:ext cx="914400" cy="914400"/>
          </a:xfrm>
          <a:prstGeom prst="ellipse">
            <a:avLst/>
          </a:prstGeom>
          <a:solidFill>
            <a:srgbClr val="12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mbria"/>
              </a:rPr>
              <a:t>FG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526279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F172A"/>
                </a:solidFill>
                <a:latin typeface="Cambria"/>
              </a:rPr>
              <a:t>Fatma Sena Gül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5029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7490"/>
                </a:solidFill>
                <a:latin typeface="Calibri"/>
              </a:rPr>
              <a:t>Üye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577840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Ankara Üniversitesi, Yapay Zeka ve Veri Mühendisliği,
Lisans Öğrencisi (3. sınıf)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4206240"/>
            <a:ext cx="5266944" cy="2057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74536" y="4526279"/>
            <a:ext cx="914400" cy="914400"/>
          </a:xfrm>
          <a:prstGeom prst="ellipse">
            <a:avLst/>
          </a:prstGeom>
          <a:solidFill>
            <a:srgbClr val="12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mbria"/>
              </a:rPr>
              <a:t>FK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4526279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F172A"/>
                </a:solidFill>
                <a:latin typeface="Cambria"/>
              </a:rPr>
              <a:t>Fatma Ceren Kar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5029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7490"/>
                </a:solidFill>
                <a:latin typeface="Calibri"/>
              </a:rPr>
              <a:t>Üye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4536" y="5577840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Ankara Üniversitesi, Yapay Zeka ve Veri Mühendisliği,
Lisans Öğrencisi (3. sınıf)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48640"/>
            <a:ext cx="9966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2315E"/>
                </a:solidFill>
                <a:latin typeface="Cambria"/>
              </a:rPr>
              <a:t>Üyelerin Yetkinlikleri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266944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2315E"/>
                </a:solidFill>
                <a:latin typeface="Cambria"/>
              </a:rPr>
              <a:t>Ahmed Berat Özer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60320"/>
            <a:ext cx="998524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9985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490"/>
                </a:solidFill>
                <a:latin typeface="Calibri"/>
              </a:rPr>
              <a:t>LLM &amp; NLP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40940" y="2560320"/>
            <a:ext cx="2607868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0940" y="2560320"/>
            <a:ext cx="260786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490"/>
                </a:solidFill>
                <a:latin typeface="Calibri"/>
              </a:rPr>
              <a:t>Agentic sistemler (LangGraph)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035808"/>
            <a:ext cx="2125065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35808"/>
            <a:ext cx="212506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490"/>
                </a:solidFill>
                <a:latin typeface="Calibri"/>
              </a:rPr>
              <a:t>Model servisleme (vLLM)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67481" y="3035808"/>
            <a:ext cx="1803196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67481" y="3035808"/>
            <a:ext cx="18031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490"/>
                </a:solidFill>
                <a:latin typeface="Calibri"/>
              </a:rPr>
              <a:t>Prompt mühendisliği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511296"/>
            <a:ext cx="757123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11296"/>
            <a:ext cx="75712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490"/>
                </a:solidFill>
                <a:latin typeface="Calibri"/>
              </a:rPr>
              <a:t>Python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1828800"/>
            <a:ext cx="5266944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2029968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2315E"/>
                </a:solidFill>
                <a:latin typeface="Cambria"/>
              </a:rPr>
              <a:t>Süleyman Eren Kayacılar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6248" y="2560320"/>
            <a:ext cx="2044598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2560320"/>
            <a:ext cx="204459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490"/>
                </a:solidFill>
                <a:latin typeface="Calibri"/>
              </a:rPr>
              <a:t>Görüntü &amp; video işleme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28862" y="2560320"/>
            <a:ext cx="83759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28862" y="2560320"/>
            <a:ext cx="83759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490"/>
                </a:solidFill>
                <a:latin typeface="Calibri"/>
              </a:rPr>
              <a:t>Backend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6248" y="3035808"/>
            <a:ext cx="2205532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3035808"/>
            <a:ext cx="22055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490"/>
                </a:solidFill>
                <a:latin typeface="Calibri"/>
              </a:rPr>
              <a:t>Performans optimizasyonu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89796" y="3035808"/>
            <a:ext cx="1561795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89796" y="3035808"/>
            <a:ext cx="156179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490"/>
                </a:solidFill>
                <a:latin typeface="Calibri"/>
              </a:rPr>
              <a:t>Model servisleme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56248" y="3511296"/>
            <a:ext cx="757123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6248" y="3511296"/>
            <a:ext cx="75712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490"/>
                </a:solidFill>
                <a:latin typeface="Calibri"/>
              </a:rPr>
              <a:t>Python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224528"/>
            <a:ext cx="5266944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425696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2315E"/>
                </a:solidFill>
                <a:latin typeface="Cambria"/>
              </a:rPr>
              <a:t>Fatma Sena Gül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956048"/>
            <a:ext cx="1642262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956048"/>
            <a:ext cx="164226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490"/>
                </a:solidFill>
                <a:latin typeface="Calibri"/>
              </a:rPr>
              <a:t>Frontend (Gradio)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84678" y="4956048"/>
            <a:ext cx="1883663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84678" y="4956048"/>
            <a:ext cx="188366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490"/>
                </a:solidFill>
                <a:latin typeface="Calibri"/>
              </a:rPr>
              <a:t>Arayüz / UX tasarımı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5431536"/>
            <a:ext cx="1803196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431536"/>
            <a:ext cx="18031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490"/>
                </a:solidFill>
                <a:latin typeface="Calibri"/>
              </a:rPr>
              <a:t>Veri görselleştirme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45612" y="5431536"/>
            <a:ext cx="2044598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45612" y="5431536"/>
            <a:ext cx="204459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490"/>
                </a:solidFill>
                <a:latin typeface="Calibri"/>
              </a:rPr>
              <a:t>Karar-destek çıktıları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5907023"/>
            <a:ext cx="757123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907023"/>
            <a:ext cx="75712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490"/>
                </a:solidFill>
                <a:latin typeface="Calibri"/>
              </a:rPr>
              <a:t>Python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81928" y="4224528"/>
            <a:ext cx="5266944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56248" y="4425696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2315E"/>
                </a:solidFill>
                <a:latin typeface="Cambria"/>
              </a:rPr>
              <a:t>Fatma Ceren Kar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56248" y="4956048"/>
            <a:ext cx="1642262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56248" y="4956048"/>
            <a:ext cx="164226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490"/>
                </a:solidFill>
                <a:latin typeface="Calibri"/>
              </a:rPr>
              <a:t>Veri mühendisliği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26526" y="4956048"/>
            <a:ext cx="1561795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6526" y="4956048"/>
            <a:ext cx="156179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490"/>
                </a:solidFill>
                <a:latin typeface="Calibri"/>
              </a:rPr>
              <a:t>Test &amp; benchmark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56248" y="5431536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6248" y="5431536"/>
            <a:ext cx="14813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490"/>
                </a:solidFill>
                <a:latin typeface="Calibri"/>
              </a:rPr>
              <a:t>KPI / ölçümleme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65592" y="5431536"/>
            <a:ext cx="1883663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65592" y="5431536"/>
            <a:ext cx="188366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490"/>
                </a:solidFill>
                <a:latin typeface="Calibri"/>
              </a:rPr>
              <a:t>Teknik dokümantasyon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177272" y="5431536"/>
            <a:ext cx="757123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77272" y="5431536"/>
            <a:ext cx="75712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490"/>
                </a:solidFill>
                <a:latin typeface="Calibri"/>
              </a:rPr>
              <a:t>Python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48640"/>
            <a:ext cx="9966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2315E"/>
                </a:solidFill>
                <a:latin typeface="Cambria"/>
              </a:rPr>
              <a:t>Proje Fikri — DilAjanları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2315E"/>
                </a:solidFill>
                <a:latin typeface="Calibri"/>
              </a:rPr>
              <a:t>Tamamen yerel/offline çalışan, Türkçe bir video-analiz ve karar-destek yapay zeka ajanı.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Savunma/saha kameralarından gelen videoyu anlar; olayları zaman damgasıyla tespit eder, Türkçe özet + risk değerlendirmesi + operatöre uygulanabilir aksiyon önerileri üretir ve gerekli operasyonel fonksiyonları (sağlık/güvenlik/kayıt) tetikler.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00400"/>
            <a:ext cx="1481328" cy="530352"/>
          </a:xfrm>
          <a:prstGeom prst="roundRect">
            <a:avLst>
              <a:gd name="adj" fmla="val 28000"/>
            </a:avLst>
          </a:prstGeom>
          <a:solidFill>
            <a:srgbClr val="12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4813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Video girişi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21408" y="3200400"/>
            <a:ext cx="32918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6B6D4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50592" y="3200400"/>
            <a:ext cx="1389888" cy="530352"/>
          </a:xfrm>
          <a:prstGeom prst="roundRect">
            <a:avLst>
              <a:gd name="adj" fmla="val 28000"/>
            </a:avLst>
          </a:prstGeom>
          <a:solidFill>
            <a:srgbClr val="12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0592" y="3200400"/>
            <a:ext cx="138988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Olay algısı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200400"/>
            <a:ext cx="32918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6B6D4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9664" y="3200400"/>
            <a:ext cx="1481328" cy="530352"/>
          </a:xfrm>
          <a:prstGeom prst="roundRect">
            <a:avLst>
              <a:gd name="adj" fmla="val 28000"/>
            </a:avLst>
          </a:prstGeom>
          <a:solidFill>
            <a:srgbClr val="12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9664" y="3200400"/>
            <a:ext cx="14813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Akıl yürütme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50992" y="3200400"/>
            <a:ext cx="32918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6B6D4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0176" y="3200400"/>
            <a:ext cx="1755648" cy="530352"/>
          </a:xfrm>
          <a:prstGeom prst="roundRect">
            <a:avLst>
              <a:gd name="adj" fmla="val 28000"/>
            </a:avLst>
          </a:prstGeom>
          <a:solidFill>
            <a:srgbClr val="12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0176" y="3200400"/>
            <a:ext cx="175564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Aksiyon önerisi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35824" y="3200400"/>
            <a:ext cx="329184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6B6D4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3200400"/>
            <a:ext cx="1938528" cy="530352"/>
          </a:xfrm>
          <a:prstGeom prst="roundRect">
            <a:avLst>
              <a:gd name="adj" fmla="val 28000"/>
            </a:avLst>
          </a:prstGeom>
          <a:solidFill>
            <a:srgbClr val="12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5008" y="3200400"/>
            <a:ext cx="19385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Operasyon çağrısı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14800"/>
            <a:ext cx="5349240" cy="1965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315968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2315E"/>
                </a:solidFill>
                <a:latin typeface="Calibri"/>
              </a:rPr>
              <a:t>Teknoloji yığını (hepsi açık kaynak, yerel)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Qwen3-VL-8B — multimodal görüntü+dil modeli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vLLM — yüksek performanslı yerel servisleme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LangGraph — çok adımlı ajan akışı &amp; araç çağrımı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Tek GPU · dış API/bulut yok · Apache-2.0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114800"/>
            <a:ext cx="5349240" cy="1965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315968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2315E"/>
                </a:solidFill>
                <a:latin typeface="Calibri"/>
              </a:rPr>
              <a:t>Ürettiği çıktı (yapılandırılmış JSON)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Zaman damgalı olay listesi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Türkçe genel özet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Risk değerlendirmesi + gerekçe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Operatöre önceliklendirilmiş aksiyon önerileri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48640"/>
            <a:ext cx="9966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2315E"/>
                </a:solidFill>
                <a:latin typeface="Cambria"/>
              </a:rPr>
              <a:t>Görev Dağılımı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88136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002536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AÖ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9659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0F172A"/>
                </a:solidFill>
                <a:latin typeface="Cambria"/>
              </a:rPr>
              <a:t>Ahmed Berat Özer</a:t>
            </a:r>
            <a:r>
              <a:rPr sz="1250" b="1">
                <a:solidFill>
                  <a:srgbClr val="0E7490"/>
                </a:solidFill>
                <a:latin typeface="Calibri"/>
              </a:rPr>
              <a:t>     —  Takım Kaptanı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368296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Takım liderliği &amp; koordinasyon · Model araştırma ve seçimi · LLM/Agent entegrasyonu (LangGraph) · Prompt mühendisliği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71800"/>
            <a:ext cx="1088136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3191256"/>
            <a:ext cx="640080" cy="640080"/>
          </a:xfrm>
          <a:prstGeom prst="ellipse">
            <a:avLst/>
          </a:prstGeom>
          <a:solidFill>
            <a:srgbClr val="12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1546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0F172A"/>
                </a:solidFill>
                <a:latin typeface="Cambria"/>
              </a:rPr>
              <a:t>Süleyman Eren Kayacılar</a:t>
            </a:r>
            <a:r>
              <a:rPr sz="1250" b="1">
                <a:solidFill>
                  <a:srgbClr val="0E7490"/>
                </a:solidFill>
                <a:latin typeface="Calibri"/>
              </a:rPr>
              <a:t>     —  Üye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557016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Video işleme &amp; kare örnekleme · vLLM model servisleme ve performans optimizasyonu · Backend geliştirme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60520"/>
            <a:ext cx="1088136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4379976"/>
            <a:ext cx="640080" cy="640080"/>
          </a:xfrm>
          <a:prstGeom prst="ellipse">
            <a:avLst/>
          </a:prstGeom>
          <a:solidFill>
            <a:srgbClr val="12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FG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3434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0F172A"/>
                </a:solidFill>
                <a:latin typeface="Cambria"/>
              </a:rPr>
              <a:t>Fatma Sena Gül</a:t>
            </a:r>
            <a:r>
              <a:rPr sz="1250" b="1">
                <a:solidFill>
                  <a:srgbClr val="0E7490"/>
                </a:solidFill>
                <a:latin typeface="Calibri"/>
              </a:rPr>
              <a:t>     —  Üye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745736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Gradio arayüzü &amp; operatör deneyimi (UX) · Karar-destek çıktı tasarımı · Demo hazırlığı ve sunum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10881360" cy="10789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568696"/>
            <a:ext cx="640080" cy="640080"/>
          </a:xfrm>
          <a:prstGeom prst="ellipse">
            <a:avLst/>
          </a:prstGeom>
          <a:solidFill>
            <a:srgbClr val="12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FK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53212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0F172A"/>
                </a:solidFill>
                <a:latin typeface="Cambria"/>
              </a:rPr>
              <a:t>Fatma Ceren Kar</a:t>
            </a:r>
            <a:r>
              <a:rPr sz="1250" b="1">
                <a:solidFill>
                  <a:srgbClr val="0E7490"/>
                </a:solidFill>
                <a:latin typeface="Calibri"/>
              </a:rPr>
              <a:t>     —  Üye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934455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Test &amp; benchmark (KPI ölçümleme) · Veri seti yönetimi · Teknik dokümantasyon ve raporlama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914400"/>
            <a:ext cx="2743200" cy="2743200"/>
          </a:xfrm>
          <a:prstGeom prst="ellipse">
            <a:avLst/>
          </a:prstGeom>
          <a:solidFill>
            <a:srgbClr val="12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10058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Neden Bu Takım Başarılı Olabilir?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266944" cy="2103120"/>
          </a:xfrm>
          <a:prstGeom prst="roundRect">
            <a:avLst>
              <a:gd name="adj" fmla="val 8000"/>
            </a:avLst>
          </a:prstGeom>
          <a:solidFill>
            <a:srgbClr val="12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874519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745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B1E3B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92807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Alan uyumu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532888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Dört üye de Ankara Üniversitesi Yapay Zeka ve Veri Mühendisliği öğrencisi — problem tam da çalıştığımız alan.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600200"/>
            <a:ext cx="5266944" cy="2103120"/>
          </a:xfrm>
          <a:prstGeom prst="roundRect">
            <a:avLst>
              <a:gd name="adj" fmla="val 8000"/>
            </a:avLst>
          </a:prstGeom>
          <a:solidFill>
            <a:srgbClr val="12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56248" y="1874519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18745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B1E3B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6328" y="1892807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Uçtan uca teknik beceri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4536" y="2532888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LLM/agent, multimodal görüntü işleme, vLLM servisleme, backend/frontend ve benchmark; tüm katmanlar ekip içinde kapsanıyor.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77639"/>
            <a:ext cx="5266944" cy="2103120"/>
          </a:xfrm>
          <a:prstGeom prst="roundRect">
            <a:avLst>
              <a:gd name="adj" fmla="val 8000"/>
            </a:avLst>
          </a:prstGeom>
          <a:solidFill>
            <a:srgbClr val="12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251959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25195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B1E3B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27024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Net görev paylaşımı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910327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Örtüşmeyen, açık roller; NLP/LLM deneyimli bir kaptan tarafından koordine ediliyor.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3977639"/>
            <a:ext cx="5266944" cy="2103120"/>
          </a:xfrm>
          <a:prstGeom prst="roundRect">
            <a:avLst>
              <a:gd name="adj" fmla="val 8000"/>
            </a:avLst>
          </a:prstGeom>
          <a:solidFill>
            <a:srgbClr val="12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56248" y="4251959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74536" y="425195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B1E3B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6328" y="427024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Kanıtlı motivasyon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4536" y="4910327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Kaptanın BTK Datathon 2026 Türkçe-metin 2.'liği + TÜBİTAK 2209-A Türkçe NLP projesi; ve şimdiden çalışan uçtan uca bir prototip.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